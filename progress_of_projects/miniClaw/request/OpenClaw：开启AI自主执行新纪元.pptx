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80" r:id="rId15"/>
    <p:sldId id="281" r:id="rId16"/>
    <p:sldId id="282" r:id="rId17"/>
    <p:sldId id="283" r:id="rId18"/>
    <p:sldId id="284" r:id="rId19"/>
    <p:sldId id="285" r:id="rId20"/>
    <p:sldId id="296" r:id="rId21"/>
    <p:sldId id="29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今天的分享。今天我们将一起探讨一个正在引爆AI领域的革命性项目——OpenClaw。它不仅仅是一个新工具，更代表了一场从“对话助手”到“数字员工”的范式革命。让我们共同开启AI自主执行的新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那么，OpenClaw到底是什么？简单来说，它是一个开源的、跨平台的、可以在你自己电脑上运行的AI自动化引擎。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它的本质，就是一个连接AI大脑（大语言模型）和真实世界操作的桥梁，核心就是把你的一句话指令，变成一系列自动完成的动作。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Claw的成功离不开它的四大核心价值主张。首先是“本地优先”，保障了你的数据安全和隐私。其次是“模型无关”，你可以自由选择和搭配各种AI模型。第三是“自主执行”，这是它的核心能力。最后是“开源开放”，这为它带来了强大的社区活力和无限的扩展可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Claw的技术架构非常清晰，分为三层。最上层是“模型层”，也就是AI的大脑，负责理解你的指令。中间是“网关层”，作为中枢，负责把复杂任务拆解成小步骤。最下层是“执行层”，相当于AI的手脚，负责执行具体的操作。这三层协同工作，完成从理解到执行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逐一解析核心组件。首先是Gateway，它是OpenClaw的心脏。你可以把它想象成一个总管家，负责管理所有连接、会话，调度任务，并且确保一切操作都是安全的。它就像一个永不疲倦的守护进程，时刻准备着接收和处理你的指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接下来是Channel组件。它解决了一个大问题：如何让AI通过各种不同的聊天软件和你互动？Channel层将所有消息平台（如WhatsApp, Telegram, Slack等）进行了统一抽象，无论你用哪个APP给它发指令，它都能理解和回应。同时，它还内置了安全机制，防止陌生人滥用。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Skills，也就是技能系统，是OpenClaw能力的核心。你可以把技能理解为AI的“应用程序”。它内置了超过50种常用技能，涵盖办公、开发、多媒体等多个领域。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更强大的是，你可以通过社区安装更多技能，甚至自己编写技能，这让OpenClaw的能力边界可以无限扩展。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emory，记忆系统，体现了OpenClaw简单到极致的设计哲学。它没有使用复杂的向量数据库，而是直接用简单的Markdown文件来存储记忆。这意味着你可以像编辑文档一样，直接查看和修改AI记住的信息，甚至可以用Git来管理这些记忆的版本。这种设计非常巧妙，既实用又易于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Tools，工具系统，是AI的“万能手脚”。如果说技能是“做什么”的指南，那么工具就是“怎么做”的具体能力。它包括了浏览器控制、文件操作、命令行执行等一系列实用工具，让AI能够真正地与你的电脑和网络进行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最后是Plugin，插件系统。为了保持核心的精简和高效，OpenClaw把很多可选功能都做成了插件。你可以通过npm、本地文件或者社区平台ClawHub来安装各种插件，这为OpenClaw的生态扩展提供了坚实的基础。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个人场景中，OpenClaw就像一个聪明的数字管家。它可以帮你自动整理文件、聚合信息、管理日程，把你从繁琐的数字杂务中解放出来。同时，它也是一个强大的学习助手，可以帮你管理文献、整理学习资料，让你的学习效率倍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办公场景，OpenClaw的威力尽显。以数据报表为例，过去需要人工花费数小时登录不同系统、下载数据、整理分析的工作，现在可以让OpenClaw在15分钟内全自动完成，而且零错误。这极大地提升了工作效率，让员工能专注于更高价值的分析和决策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内容创作者也能从OpenClaw中获益匪浅。写好一篇文章后，只需告诉OpenClaw，它就能自动将文章适配不同平台的格式，并一键发布到公众号、知乎等多个渠道。原本需要几小时的重复劳动，现在几分钟就能搞定。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还有一个痛点就是写会议纪要和周报。OpenClaw可以自动记录会议并生成纪要，甚至每周帮你汇总工作，生成周报草稿。这让员工可以从这些繁琐的文书工作中解脱出来，彻底告别“周报焦虑”。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对于开发者来说，OpenClaw更是一个强大的伙伴。它可以提供智能代码辅助，自动管理开发环境，甚至帮你处理Git操作和代码审查。它就像一个不知疲倦的副驾，时刻帮助你提升开发效率。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运维方面，OpenClaw可以成为一个7x24小时的智能运维工程师。它能自动监控系统状态，在出现问题时及时告警，甚至能执行预设的修复脚本，实现故障自愈。它还能将整个部署流程自动化，大大减少了人工操作的风险和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OpenClaw有三个主要的发展方向。首先是多智能体协同，让多个AI分工合作，解决更复杂的任务。其次是模型轻量化，让AI执行能力能够运行在手机等边缘设备上。最后是行业专业化，开发更多针对特定行业的解决方案，深入赋能实体经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用“AI产业的Linux时刻”来总结OpenClaw的意义。就像Linux为软件世界提供了一个开放的基础一样，OpenClaw正在为AI的“自主执行”时代奠定基础。它推动AI从一个辅助工具，真正进化为生产的核心，开启了一个智能自动化的新纪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2.svg"/><Relationship Id="rId12" Type="http://schemas.openxmlformats.org/officeDocument/2006/relationships/image" Target="../media/image31.png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44.svg"/><Relationship Id="rId12" Type="http://schemas.openxmlformats.org/officeDocument/2006/relationships/image" Target="../media/image43.pn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2.svg"/><Relationship Id="rId10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78.svg"/><Relationship Id="rId14" Type="http://schemas.openxmlformats.org/officeDocument/2006/relationships/image" Target="../media/image77.png"/><Relationship Id="rId13" Type="http://schemas.openxmlformats.org/officeDocument/2006/relationships/image" Target="../media/image76.svg"/><Relationship Id="rId12" Type="http://schemas.openxmlformats.org/officeDocument/2006/relationships/image" Target="../media/image75.png"/><Relationship Id="rId11" Type="http://schemas.openxmlformats.org/officeDocument/2006/relationships/image" Target="../media/image74.svg"/><Relationship Id="rId10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svg"/><Relationship Id="rId8" Type="http://schemas.openxmlformats.org/officeDocument/2006/relationships/image" Target="../media/image85.png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89.jpeg"/><Relationship Id="rId11" Type="http://schemas.openxmlformats.org/officeDocument/2006/relationships/image" Target="../media/image88.svg"/><Relationship Id="rId10" Type="http://schemas.openxmlformats.org/officeDocument/2006/relationships/image" Target="../media/image8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svg"/><Relationship Id="rId8" Type="http://schemas.openxmlformats.org/officeDocument/2006/relationships/image" Target="../media/image96.png"/><Relationship Id="rId7" Type="http://schemas.openxmlformats.org/officeDocument/2006/relationships/image" Target="../media/image95.svg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9.svg"/><Relationship Id="rId10" Type="http://schemas.openxmlformats.org/officeDocument/2006/relationships/image" Target="../media/image9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101.svg"/><Relationship Id="rId2" Type="http://schemas.openxmlformats.org/officeDocument/2006/relationships/image" Target="../media/image100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5.svg"/><Relationship Id="rId4" Type="http://schemas.openxmlformats.org/officeDocument/2006/relationships/image" Target="../media/image104.png"/><Relationship Id="rId3" Type="http://schemas.openxmlformats.org/officeDocument/2006/relationships/image" Target="../media/image103.svg"/><Relationship Id="rId2" Type="http://schemas.openxmlformats.org/officeDocument/2006/relationships/image" Target="../media/image102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109.svg"/><Relationship Id="rId4" Type="http://schemas.openxmlformats.org/officeDocument/2006/relationships/image" Target="../media/image108.png"/><Relationship Id="rId3" Type="http://schemas.openxmlformats.org/officeDocument/2006/relationships/image" Target="../media/image107.svg"/><Relationship Id="rId2" Type="http://schemas.openxmlformats.org/officeDocument/2006/relationships/image" Target="../media/image106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5.svg"/><Relationship Id="rId6" Type="http://schemas.openxmlformats.org/officeDocument/2006/relationships/image" Target="../media/image114.png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" Type="http://schemas.openxmlformats.org/officeDocument/2006/relationships/image" Target="../media/image110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svg"/><Relationship Id="rId8" Type="http://schemas.openxmlformats.org/officeDocument/2006/relationships/image" Target="../media/image122.png"/><Relationship Id="rId7" Type="http://schemas.openxmlformats.org/officeDocument/2006/relationships/image" Target="../media/image121.svg"/><Relationship Id="rId6" Type="http://schemas.openxmlformats.org/officeDocument/2006/relationships/image" Target="../media/image120.png"/><Relationship Id="rId5" Type="http://schemas.openxmlformats.org/officeDocument/2006/relationships/image" Target="../media/image119.svg"/><Relationship Id="rId4" Type="http://schemas.openxmlformats.org/officeDocument/2006/relationships/image" Target="../media/image118.png"/><Relationship Id="rId3" Type="http://schemas.openxmlformats.org/officeDocument/2006/relationships/image" Target="../media/image117.svg"/><Relationship Id="rId2" Type="http://schemas.openxmlformats.org/officeDocument/2006/relationships/image" Target="../media/image116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开启AI自主执行新纪元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57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95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从“对话助手”到“数字员工”的范式革命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定义与核心理念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88580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altLang="zh-CN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= </a:t>
            </a:r>
            <a:r>
              <a:rPr lang="zh-CN" alt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大语言模型</a:t>
            </a:r>
            <a:r>
              <a:rPr lang="en-US" altLang="zh-CN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zh-CN" alt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</a:t>
            </a:r>
            <a:r>
              <a:rPr lang="en-US" altLang="zh-CN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zh-CN" alt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</a:t>
            </a:r>
            <a:r>
              <a:rPr lang="en-US" altLang="zh-CN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zh-CN" alt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工具使用</a:t>
            </a:r>
            <a:r>
              <a:rPr lang="en-US" sz="4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819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730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</a:t>
            </a:r>
            <a:r>
              <a:rPr lang="en-US" sz="12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开源、跨平台、可本地部署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AI 智能体自动化引擎，致力于提供底层的运行能力。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2819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88000" y="2730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本质架构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55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</a:t>
            </a:r>
            <a:r>
              <a:rPr lang="en-US" sz="12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“LLM + 执行网关 + 技能生态”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的深度融合体，充当连接 AI 大脑与真实世界操作的中间桥梁。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667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2819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2730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核心使命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55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将用户的</a:t>
            </a:r>
            <a:r>
              <a:rPr lang="en-US" sz="12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自然语言指令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，直接转化为端到端的、可执行的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自动化工作流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，减少人工干预成本。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F6B00">
              <a:alpha val="6000"/>
            </a:srgbClr>
          </a:solidFill>
          <a:ln w="12700" cap="flat" cmpd="sng">
            <a:solidFill>
              <a:srgbClr val="FF6B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2324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愿景：让 AI 不再局限于“生成内容”，而是具备真正的</a:t>
            </a:r>
            <a:r>
              <a:rPr lang="en-US" sz="14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“执行能力”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，成为连接数字大脑与物理世界操作的高效自动化引擎。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四大核心价值主张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4445000"/>
          </a:xfrm>
          <a:prstGeom prst="roundRect">
            <a:avLst>
              <a:gd name="adj" fmla="val 820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87500" y="1905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0700" y="21082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本地优先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4290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PRIVACY-FIRST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1968500" cy="25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1968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所有数据处理和存储均在用户自己的设备或服务器上完成，不依赖第三方云端服务，从根本上保障隐私安全。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1651000"/>
            <a:ext cx="2476500" cy="4445000"/>
          </a:xfrm>
          <a:prstGeom prst="roundRect">
            <a:avLst>
              <a:gd name="adj" fmla="val 820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18000" y="1905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1200" y="2108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619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模型无关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4290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MODEL-AGNOSTIC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746500" y="3937000"/>
            <a:ext cx="1968500" cy="25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46500" y="4191000"/>
            <a:ext cx="1968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不绑定任何特定大模型，可无缝对接主流云模型和本地模型，用户可自由组合以灵活平衡性能与成本。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2476500" cy="4445000"/>
          </a:xfrm>
          <a:prstGeom prst="roundRect">
            <a:avLst>
              <a:gd name="adj" fmla="val 820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048500" y="1905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1700" y="2108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350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自主执行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4290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AUTONOMOUS EXECUTION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937000"/>
            <a:ext cx="1968500" cy="25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4191000"/>
            <a:ext cx="1968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基于“观察-思考-行动-检查”智能体循环，能将自然语言指令自动拆解为原子操作序列，完成端到端复杂任务。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53500" y="1651000"/>
            <a:ext cx="2476500" cy="4445000"/>
          </a:xfrm>
          <a:prstGeom prst="roundRect">
            <a:avLst>
              <a:gd name="adj" fmla="val 820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28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779000" y="1905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82200" y="21082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80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开源开放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80500" y="34290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&amp; EXTENSIBLE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07500" y="3937000"/>
            <a:ext cx="1968500" cy="254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207500" y="4191000"/>
            <a:ext cx="1968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核心代码遵循MIT开源协议，拥有活跃社区和开放技能生态(ClawHub)，允许用户进行深度定制和无限扩展。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技术架构总览：三层协同的执行体系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实现“指令理解 - 任务调度 - 动作执行”的高效协同闭环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981200" y="2286000"/>
            <a:ext cx="863600" cy="8636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4638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3302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Integration Layer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60500" y="41910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FF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核心角色：“大脑”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负责自然语言理解、复杂任务规划与决策推理。支持多模型动态切换与私有化本地部署。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64200" y="2286000"/>
            <a:ext cx="863600" cy="8636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4638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99000" y="3302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网关层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Execution Gateway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43500" y="41910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FF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核心角色：“中枢”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负责指令精确解析、任务自动拆解与技能调度。提供统一的权限控制、异常处理与全链路日志审计。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47200" y="2286000"/>
            <a:ext cx="863600" cy="8636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4638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3302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执行层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Execution Layer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826500" y="41910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FFF0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核心角色：“手脚”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负责具体动作的落地执行。集成系统命令、文件IO、网络请求、代码动态执行等核心执行能力。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核心组件详解：Gateway（网关）——控制中枢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Gateway 是 OpenClaw 的心脏，一个长期运行的守护进程（daemon），负责统筹与调度全局任务。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2286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2463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2222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连接管理 · Connection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2641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管理所有消息平台的长连接，支持自动重连机制与心跳保活，确保链路稳定性。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810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70000" y="3810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3987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286000" y="3746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会话管理 · Session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286000" y="4165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智能处理多轮对话上下文，严格隔离不同用户的会话环境，保证数据独立性。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34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270000" y="5334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7800" y="5511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286000" y="5270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调度 · Dispatch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86000" y="5689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支持灵活的多 Agent 路由策略，每个 Agent 拥有独立的工作空间与运行沙箱。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2032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2286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731000" y="2286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8800" y="24638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747000" y="2222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安全控制 · Security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747000" y="2641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DM 配对机制与访问允许列表（Allow List），全方位保障系统接入的安全性。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3556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3810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731000" y="3810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8800" y="3987800"/>
            <a:ext cx="406400" cy="406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747000" y="3746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暴露 · Interface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747000" y="4165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对外提供标准的 WebSocket API 接口，以及可视化的 Web 控制面板，便于集成与监控。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5080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77000" y="5334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731000" y="5334000"/>
            <a:ext cx="762000" cy="7620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08800" y="5511800"/>
            <a:ext cx="406400" cy="4064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747000" y="5270500"/>
            <a:ext cx="342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自动化任务 · Automation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747000" y="5689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Cron 定时任务解析器，支持 Webhook 事件接收，实现全流程的自动化响应。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核心组件详解：Channel（消息平台抽象层）——全渠道接入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0574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032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支持平台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 Channel：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WhatsApp, Telegram, Discord, Slack, Signal, iMessage 等主流即时通讯平台。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 Channel：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Google Chat, Microsoft Teams, 飞书, LINE 等企业级与区域性沟通工具。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20574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2032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安全机制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626">
            <a:off x="469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99000" y="3048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针对陌生人发起的 DM 会话，默认启用</a:t>
            </a:r>
            <a:r>
              <a:rPr lang="en-US" sz="12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“配对模式”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需用户在终端设备上主动确认授权后，AI 服务才会建立连接并进行正常交互，从源头规避了陌生人滥用风险。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0" y="1905000"/>
            <a:ext cx="711200" cy="7112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20574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271000" y="2032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8382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3048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统一抽象层：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屏蔽底层差异，对 Gateway 而言，无论用户使用 WhatsApp 还是 Telegram，都被视为一个标准的 Channel。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82000" y="4699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真正实现了</a:t>
            </a:r>
            <a:r>
              <a:rPr lang="en-US" sz="12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“全渠道接入”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，极大地降低了扩展新平台的开发成本。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核心组件详解：Skills（技能系统）——无限扩展的能力边界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技能是教 AI 如何组合使用工具完成复杂任务的“教科书”，赋予 OpenClaw 灵活多变的执行能力。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▍技能层级体系 (Skill Layers)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0734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Bundled Skills (内置技能)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429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 OpenClaw 核心一起安装的基础能力，开箱即用，覆盖高频场景。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318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2164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Managed Skills (社区技能)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572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ClawHub 安装的第三方扩展技能，由社区开发者持续贡献与维护。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20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5461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5359400"/>
            <a:ext cx="368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Workspace Skills (本地技能)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7150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171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用户根据自身业务需求，使用 Python 编写的私有化、定制化本地脚本。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286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▍内置技能生态 (50+ Built-in)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921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3111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3111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办公效率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67500" y="3619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gog (Google), notion, trello 任务管理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53500" y="2921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0" y="3111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715500" y="3111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开发调试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3619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coding-agent, github, tmux 终端复用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4318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4508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239000" y="4508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多媒体交互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67500" y="5016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spotify-player, voice-call, peekaboo截图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953500" y="4318000"/>
            <a:ext cx="23495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4000" y="4508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715500" y="45085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生活实用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144000" y="5016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weather, summarize, nano-pdf阅读器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核心组件详解：Memory（记忆系统）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简单到极致的设计哲学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摒弃复杂的向量数据库，回归数据本质，采用简单的 Markdown 文件直接存储 AI 记忆。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📂 两层记忆架构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355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3492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长期记忆 (MEMORY.md)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937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存储用户偏好、核心人设、历史重要决策等长期不变的关键信息。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699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953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4889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每日日志 (YYYY-MM-DD.md)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5334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按时间轴记录当天的实时对话、任务笔记和上下文细节，便于回溯。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667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核心设计优势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302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492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3429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完全可读与可编辑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37846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人类可直接阅读内容，随时手动修正或补充AI的记忆数据。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318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508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4445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Git 版本控制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48006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所有记忆文件可放入 Git 仓库，完整追踪记忆的演变与历史回滚。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533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55245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5461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极简零外部依赖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366000" y="58166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无需部署 Redis、向量数据库等服务，仅需文件系统即可运行。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核心组件详解：Tools（工具系统）——AI的“万能手脚”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工具是AI执行实际操作的能力集合，赋予AI与物理世界交互的“四肢”。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" y="2565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4130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浏览器控制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921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Playwright 引擎，可自动化打开网页、表单填写与页面截图。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2413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900" y="2565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61000" y="24130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文件操作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2921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提供完整的 IO 能力，支持本地文件的读写、目录的创建与管理。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159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18500" y="2413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0900" y="2565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2413000"/>
            <a:ext cx="209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Shell 执行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2921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在安全沙箱环境内运行系统命令行指令，执行复杂的系统级任务。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445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4900" y="4597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778000" y="44450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消息发送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778000" y="4953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集成企业微信、飞书等多平台接口，实现任务结果的实时跨端消息推送。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4445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5900" y="45974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4450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定时任务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4953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基于标准 Cron 表达式，灵活调度 AI 任务在指定的时间点或周期自动执行。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核心组件详解：Plugin（插件系统）——生态扩展的基石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 的核心保持极致精简，将灵活性与丰富功能完全交由插件系统进行扩展。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711200" cy="7112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565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476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NPM 包管理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依托成熟的 npm 生态，实现插件的一键安装、版本控制与依赖管理，规范高效。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711200" cy="7112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2565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88000" y="2476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本地目录扩展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支持直接加载本地开发目录，实时映射代码变更，极大降低了插件开发与调试的门槛。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159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413000"/>
            <a:ext cx="711200" cy="711200"/>
          </a:xfrm>
          <a:prstGeom prst="ellipse">
            <a:avLst/>
          </a:prstGeom>
          <a:solidFill>
            <a:srgbClr val="FFF1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2565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2476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ClawHub 社区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30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官方插件集散中心，汇聚社区智慧成果，让用户轻松发现、分享和交流各类优质扩展。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8F2">
              <a:alpha val="100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953000"/>
            <a:ext cx="762000" cy="762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159000" y="4826000"/>
            <a:ext cx="863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设计哲学：Core Minimalism &amp; Ecosystem Power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159000" y="5397500"/>
            <a:ext cx="876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核心层保持小巧、稳定、高效，只保留最基础的运行机制；将所有的灵活性、扩展性与定制化能力完全开放给社区与用户，共同构建繁荣的插件生态。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个人场景：从效率提升到生活解放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5334000" cy="457200"/>
          </a:xfrm>
          <a:prstGeom prst="roundRect">
            <a:avLst>
              <a:gd name="adj" fmla="val 5000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核心目标：减少重复性劳动，实现数字生活智能化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11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高频杂务自动化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84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175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3073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文件管理自动化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自动监测桌面与下载文件夹，按文件类型、所属项目智能分类归档。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254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41529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资讯聚合与摘要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每日自动抓取关注的新闻源与订阅内容，生成300字以内的精简摘要。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5143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5334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52324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智能日程管家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自动同步多端日历，智能提取关键待办事项，并在冲突时进行协调提醒。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286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2311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个人知识管理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984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3238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31115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学术文献智能处理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自动检索并下载指定领域论文，解析核心观点与实验数据，快速生成文献综述初稿。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444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4699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4572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沉浸式学习助手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自动整理课程录播与PPT资料，提取视频关键字幕并生成思维导图，构建个人知识库。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办公场景：数据报表自动化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效率飞跃：人工 2-3h ➔ 15分钟 | 零错误率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889000"/>
          </a:xfrm>
          <a:prstGeom prst="roundRect">
            <a:avLst>
              <a:gd name="adj" fmla="val 0"/>
            </a:avLst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核心场景：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针对每日运营数据，实现多平台自动收集、数据清洗整合与可视化报表的一键生成。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238500"/>
            <a:ext cx="508000" cy="508000"/>
          </a:xfrm>
          <a:prstGeom prst="ellipse">
            <a:avLst/>
          </a:prstGeom>
          <a:solidFill>
            <a:srgbClr val="FF6B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3340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200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自动登录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免密自动登录多业务平台，解放双手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556000" y="30480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746500" y="3238500"/>
            <a:ext cx="508000" cy="508000"/>
          </a:xfrm>
          <a:prstGeom prst="ellipse">
            <a:avLst/>
          </a:prstGeom>
          <a:solidFill>
            <a:srgbClr val="FF6B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8100" y="3340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445000" y="3200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下载报表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定时下载指定日期CSV/Excel源数据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3815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572000"/>
            <a:ext cx="508000" cy="508000"/>
          </a:xfrm>
          <a:prstGeom prst="ellipse">
            <a:avLst/>
          </a:prstGeom>
          <a:solidFill>
            <a:srgbClr val="FF6B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100" y="4673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5339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自动合并数据、清洗异常值与分析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556000" y="438150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746500" y="4572000"/>
            <a:ext cx="508000" cy="508000"/>
          </a:xfrm>
          <a:prstGeom prst="ellipse">
            <a:avLst/>
          </a:prstGeom>
          <a:solidFill>
            <a:srgbClr val="FF6B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8100" y="4673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445000" y="45339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可视化图表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一键生成折线、柱状等多维分析图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5715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842000"/>
            <a:ext cx="635000" cy="635000"/>
          </a:xfrm>
          <a:prstGeom prst="ellipse">
            <a:avLst/>
          </a:prstGeom>
          <a:solidFill>
            <a:srgbClr val="FF6B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7600" y="5969000"/>
            <a:ext cx="330200" cy="330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778000" y="5842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自动分发邮件：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将最终报表与分析图表定时发送给业务负责人，实现全流程闭环。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1905000"/>
            <a:ext cx="4953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rcRect l="20594" r="20594"/>
          <a:stretch>
            <a:fillRect/>
          </a:stretch>
        </p:blipFill>
        <p:spPr>
          <a:xfrm>
            <a:off x="6604000" y="2032000"/>
            <a:ext cx="4699000" cy="4191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办公场景：内容创作与发布自动化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将传统 2-3 小时的多平台分发工作，缩短至</a:t>
            </a:r>
            <a:r>
              <a:rPr lang="en-US" sz="26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 分钟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84400"/>
            <a:ext cx="952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当内容创作者完成一篇深度文章后，需要同步分发到公众号、知乎、个人博客等多个主流内容平台，通过自动化流程替代繁琐的人工操作。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2540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3581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429000"/>
            <a:ext cx="139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解析文章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自动读取本地 Markdown 格式文档，精准提取正文、标题与图片引用等核心信息。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3175000"/>
            <a:ext cx="2540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810000" y="3429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2400" y="3581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72000" y="3429000"/>
            <a:ext cx="139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格式调整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0" y="4191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内置多平台适配规则，自动转换标题风格、调整配图尺寸与段落排版，符合平台规范。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175000"/>
            <a:ext cx="2540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3429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6400" y="3581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3429000"/>
            <a:ext cx="139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图片处理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4191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智能无损压缩图片体积，去除EXIF冗余信息，在保证清晰度的同时大幅优化加载速度。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175000"/>
            <a:ext cx="2540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398000" y="3429000"/>
            <a:ext cx="609600" cy="6096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0400" y="3581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0160000" y="3429000"/>
            <a:ext cx="1397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一键发布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98000" y="4191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自动登录各平台后台，模拟人工操作流程，批量完成内容发布或定时推送，解放双手。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办公场景：会议与周报自动化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彻底告别“周报焦虑”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2540000"/>
            <a:ext cx="914400" cy="9144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6200" y="27432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286000" y="2730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会议纪要智能整理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31750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语音转写 · 结构化输出 · 待办提取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822">
            <a:off x="1143009" y="374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143000" y="406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自动识别并记录会议中的语音发言或文字聊天内容，快速生成逻辑清晰的结构化会议纪要。同时自动提取关键信息，生成可视化的待办事项列表，大幅提升会后跟进效率。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159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2540000"/>
            <a:ext cx="914400" cy="914400"/>
          </a:xfrm>
          <a:prstGeom prst="ellipse">
            <a:avLst/>
          </a:prstGeom>
          <a:solidFill>
            <a:srgbClr val="FF6B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7200" y="27432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747000" y="2730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周报内容自动汇总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47000" y="3175000"/>
            <a:ext cx="330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多维数据 · 智能汇总 · 一键成稿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822">
            <a:off x="6604009" y="374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B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4064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系统每周自动聚合本周的代码提交记录、文档修改历史、邮件往来摘要等多维工作数据。基于这些真实数据自动生成内容详实的周报草稿，员工只需简单审阅修改即可提交。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开发与运维场景：开发效率提升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深度融入开发运维全流程，打造智能化、自动化的研发体验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006600" y="2413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2616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代码智能辅助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基于AI的实时代码建议与错误检测，支持自动生成单元测试用例，全方位提升编码的准确性与开发速度。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89600" y="2413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2616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99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99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实现开发环境的自动化配置与标准化管理，支持多语言、多版本的灵活快速切换，彻底解决“环境不一致”难题。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3683000"/>
          </a:xfrm>
          <a:prstGeom prst="roundRect">
            <a:avLst>
              <a:gd name="adj" fmla="val 4615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72600" y="24130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75800" y="26162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342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Git与代码管理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4064000"/>
            <a:ext cx="2540000" cy="127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自动拉取最新代码、提交变更记录，并可一键生成结构化的代码审查报告，大幅降低人工成本，规范团队协作流程。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开发与运维场景：运维自动化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从手动监控到智能自愈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854200" y="2349500"/>
            <a:ext cx="1117600" cy="1117600"/>
          </a:xfrm>
          <a:prstGeom prst="ellipse">
            <a:avLst/>
          </a:prstGeom>
          <a:solidFill>
            <a:srgbClr val="FF6B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8200" y="2603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系统监控与告警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254500"/>
            <a:ext cx="2540000" cy="254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定时检查服务器核心指标（CPU、内存、磁盘），一旦发现异常，立即自动触发短信、电话等多渠道告警。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537200" y="2349500"/>
            <a:ext cx="1117600" cy="1117600"/>
          </a:xfrm>
          <a:prstGeom prst="ellipse">
            <a:avLst/>
          </a:prstGeom>
          <a:solidFill>
            <a:srgbClr val="FF6B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603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9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故障自动处理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254500"/>
            <a:ext cx="2540000" cy="254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99000" y="457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针对常见故障预设修复脚本，系统检测到特定问题（如服务意外宕机）后，自动执行脚本进行自主修复。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20200" y="2349500"/>
            <a:ext cx="1117600" cy="1117600"/>
          </a:xfrm>
          <a:prstGeom prst="ellipse">
            <a:avLst/>
          </a:prstGeom>
          <a:solidFill>
            <a:srgbClr val="FF6B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4200" y="26035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自动化部署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4254500"/>
            <a:ext cx="2540000" cy="25400"/>
          </a:xfrm>
          <a:prstGeom prst="roundRect">
            <a:avLst>
              <a:gd name="adj" fmla="val 0"/>
            </a:avLst>
          </a:prstGeom>
          <a:solidFill>
            <a:srgbClr val="E6E6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457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打通“拉取代码 → 自动化测试 → 镜像构建 → 应用部署 → 结果验证”全流程，实现无人值守的持续交付。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未来发展方向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05000" y="2032000"/>
            <a:ext cx="1016000" cy="10160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302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多智能体协同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从单一Agent向多Agent并行协作演进，解决更复杂的任务。例如，一个Agent负责调研，一个负责分析，一个负责撰写报告。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588000" y="2032000"/>
            <a:ext cx="1016000" cy="10160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286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699000" y="3302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模型轻量化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93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针对边缘设备进行深度优化，让AI强大的执行能力延伸至手机、物联网等终端设备，真正实现无处不在的智能服务。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271000" y="2032000"/>
            <a:ext cx="1016000" cy="10160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286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82000" y="3302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行业专业化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937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深耕垂直领域，开发医疗、金融、制造等行业的专用技能和解决方案，将通用AI能力转化为行业生产力，深入赋能千行百业。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总结：AI产业的“Linux时刻”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OpenClaw的爆发式崛起，被业界视为AI产业的“Linux时刻”，标志着技术生态的重大转折。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511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2654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82800" y="228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开辟全新赛道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82800" y="279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以开源开放的姿态，打破传统壁垒，为AI产业开辟了全新的“自主执行”应用赛道。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4511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200" y="2654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543800" y="2286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推动产业进化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543800" y="2794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重塑生产力结构，推动AI技术从单一的辅助决策工具，正式进化为企业的核心生产引擎。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4831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9200" y="46863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082800" y="431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构筑数字基建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082800" y="4826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随着生态的不断完善，这只“数字龙虾”正逐步成为连接算法与应用的AI时代基础设施。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064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483100"/>
            <a:ext cx="812800" cy="812800"/>
          </a:xfrm>
          <a:prstGeom prst="ellipse">
            <a:avLst/>
          </a:prstGeom>
          <a:solidFill>
            <a:srgbClr val="FF6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80200" y="46863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543800" y="431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B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开启智能纪元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43800" y="4826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加速物理世界与数字世界的深度融合，正式推动人类社会迈入智能自动化的全新发展阶段。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4736</Words>
  <Application>WPS 演示</Application>
  <PresentationFormat/>
  <Paragraphs>380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戴鸿君</cp:lastModifiedBy>
  <cp:revision>1</cp:revision>
  <dcterms:created xsi:type="dcterms:W3CDTF">2026-04-15T06:53:27Z</dcterms:created>
  <dcterms:modified xsi:type="dcterms:W3CDTF">2026-04-15T06:53:27Z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588048D4B4D54D488724F53675272E98_12</vt:lpwstr>
  </property>
  <property fmtid="{D5CDD505-2E9C-101B-9397-08002B2CF9AE}" pid="3" name="KSOProductBuildVer">
    <vt:lpwstr>2052-12.1.0.23542</vt:lpwstr>
  </property>
</Properties>
</file>